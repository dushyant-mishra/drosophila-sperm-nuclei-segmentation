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Biological comparison: WT versus KJ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Specimen-level overview</a:t>
            </a:r>
          </a:p>
        </p:txBody>
      </p:sp>
      <p:pic>
        <p:nvPicPr>
          <p:cNvPr id="3" name="Picture 2" descr="01_specime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Effect-size forest plot</a:t>
            </a:r>
          </a:p>
        </p:txBody>
      </p:sp>
      <p:pic>
        <p:nvPicPr>
          <p:cNvPr id="3" name="Picture 2" descr="02_effect_siz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Length-width relationship</a:t>
            </a:r>
          </a:p>
        </p:txBody>
      </p:sp>
      <p:pic>
        <p:nvPicPr>
          <p:cNvPr id="3" name="Picture 2" descr="03_length_width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Biological statistical summary</a:t>
            </a:r>
          </a:p>
        </p:txBody>
      </p:sp>
      <p:pic>
        <p:nvPicPr>
          <p:cNvPr id="3" name="Picture 2" descr="04_biological_statistic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Statistical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/>
            </a:pPr>
            <a:r>
              <a:t>Biological specimen is the replicate; nuclei are nested measurements.</a:t>
            </a:r>
          </a:p>
          <a:p>
            <a:pPr>
              <a:spcAft>
                <a:spcPts val="1100"/>
              </a:spcAft>
              <a:defRPr sz="1700"/>
            </a:pPr>
            <a:r>
              <a:t>Descriptive comparison only. Inferential statistics are unavailable until each group has at least 3 biological specimens.</a:t>
            </a:r>
          </a:p>
          <a:p>
            <a:pPr>
              <a:spcAft>
                <a:spcPts val="1100"/>
              </a:spcAft>
              <a:defRPr sz="1700"/>
            </a:pPr>
            <a:r>
              <a:t>When available, the permutation median test is primary; Mann-Whitney and Welch tests are sensitivity analyses.</a:t>
            </a:r>
          </a:p>
          <a:p>
            <a:pPr>
              <a:spcAft>
                <a:spcPts val="1100"/>
              </a:spcAft>
              <a:defRPr sz="1700"/>
            </a:pPr>
            <a:r>
              <a:t>Nuclei are never treated as independent biological replicates.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How to interpret the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/>
            </a:pPr>
            <a:r>
              <a:t>2D length: Are nuclei typically longer in the image plane? The specimen median of each reconstructed nucleus's maximum calibrated 2D centerline length. Higher values indicate longer projected nuclei.</a:t>
            </a:r>
          </a:p>
          <a:p>
            <a:pPr>
              <a:spcAft>
                <a:spcPts val="1100"/>
              </a:spcAft>
              <a:defRPr sz="1700"/>
            </a:pPr>
            <a:r>
              <a:t>Body width: Are nuclei typically broader or thinner? The specimen median of representative-plane subpixel perpendicular body chords. Higher values indicate broader apparent masks; width remains sensitive to PSF, focus, and mask boundaries.</a:t>
            </a:r>
          </a:p>
          <a:p>
            <a:pPr>
              <a:spcAft>
                <a:spcPts val="1100"/>
              </a:spcAft>
              <a:defRPr sz="1700"/>
            </a:pPr>
            <a:r>
              <a:t>Length / width: Are nuclei more elongated or more rounded? A shape ratio. Higher values indicate longer, more slender nuclei; interpret it together with length and width.</a:t>
            </a:r>
          </a:p>
          <a:p>
            <a:pPr>
              <a:spcAft>
                <a:spcPts val="1100"/>
              </a:spcAft>
              <a:defRPr sz="1700"/>
            </a:pPr>
            <a:r>
              <a:t>Projection + Z extent: Do nuclei have a larger combined image-plane and Z extent? A calibrated hypotenuse combining maximum lateral centerline extent with Z span. It is orientation-sensitive and is not an integrated 3D centerline.</a:t>
            </a:r>
          </a:p>
          <a:p>
            <a:pPr>
              <a:spcAft>
                <a:spcPts val="1100"/>
              </a:spcAft>
              <a:defRPr sz="1700"/>
            </a:pPr>
            <a:r>
              <a:t>3D tortuosity: Are nuclei straighter or more curved? Estimated path length divided by end-to-end distance. Values near 1 are straight; larger values indicate increasing curvature.</a:t>
            </a:r>
          </a:p>
          <a:p>
            <a:pPr>
              <a:spcAft>
                <a:spcPts val="1100"/>
              </a:spcAft>
              <a:defRPr sz="1700"/>
            </a:pPr>
            <a:r>
              <a:t>Observed-slab thickness: Is the observed mask slab effectively thicker? A diameter proxy derived from volume divided by length. It is not a direct width and is PSF- and segmentation-sensitive.</a:t>
            </a:r>
          </a:p>
          <a:p>
            <a:pPr>
              <a:spcAft>
                <a:spcPts val="1100"/>
              </a:spcAft>
              <a:defRPr sz="1700"/>
            </a:pPr>
            <a:r>
              <a:t>Observed slab sum: How much calibrated observed-slice mask slab does a typical nucleus occupy? Filled-mask area on observed planes multiplied by Z spacing, with no missing-plane interpolation. It depends on thresholds, sampling, and PSF.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